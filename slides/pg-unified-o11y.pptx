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E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148840"/>
            <a:ext cx="82296" cy="1325880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176272"/>
            <a:ext cx="114601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800" b="1" i="0">
                <a:solidFill>
                  <a:srgbClr val="FFFFFF"/>
                </a:solidFill>
                <a:latin typeface="Roboto Condensed"/>
              </a:rPr>
              <a:t>UNIFIED OBSERVABILITY</a:t>
            </a:r>
          </a:p>
          <a:p>
            <a:pPr algn="l">
              <a:lnSpc>
                <a:spcPct val="95000"/>
              </a:lnSpc>
            </a:pPr>
            <a:r>
              <a:rPr sz="3800" b="1" i="0">
                <a:solidFill>
                  <a:srgbClr val="FFFFFF"/>
                </a:solidFill>
                <a:latin typeface="Roboto Condensed"/>
              </a:rPr>
              <a:t>FOR POSTGRESQL ON KUBERNETES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114601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A8C2CA"/>
                </a:solidFill>
                <a:latin typeface="Roboto"/>
              </a:rPr>
              <a:t>Logs, traces and metrics under one 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11460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Roboto Condensed"/>
              </a:rPr>
              <a:t>GABRIELE ROSSINI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029200"/>
            <a:ext cx="11460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C2CA"/>
                </a:solidFill>
                <a:latin typeface="Roboto"/>
              </a:rPr>
              <a:t>Senior Staff Software Engineer at EDB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349240"/>
            <a:ext cx="11460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C2CA"/>
                </a:solidFill>
                <a:latin typeface="Roboto"/>
              </a:rPr>
              <a:t>PGConf.EU 2026  ·  Valencia, Spain</a:t>
            </a:r>
          </a:p>
        </p:txBody>
      </p:sp>
      <p:pic>
        <p:nvPicPr>
          <p:cNvPr id="9" name="Picture 8" descr="edb_postgres_ai_dark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A8C2CA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GABRIELE ROSSINI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23160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567F8D"/>
                </a:solidFill>
                <a:latin typeface="Roboto"/>
              </a:rPr>
              <a:t>Senior Staff Software Engineer at EDB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761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The Hague, Netherlands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246120"/>
            <a:ext cx="2468880" cy="310896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Roboto Condensed"/>
              </a:rPr>
              <a:t>APPRENTICE SPEAKER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5760" y="3822191"/>
            <a:ext cx="8229600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5760" y="3931920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495A"/>
                </a:solidFill>
                <a:latin typeface="Roboto"/>
              </a:rPr>
              <a:t>I build Postgres observability for Kubernetes and traditional infrastructure.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" y="4535424"/>
            <a:ext cx="8229600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5760" y="4645152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495A"/>
                </a:solidFill>
                <a:latin typeface="Roboto"/>
              </a:rPr>
              <a:t>Ten years from full-stack to backend and telemetry.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5760" y="5248655"/>
            <a:ext cx="8229600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5358383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8495A"/>
                </a:solidFill>
                <a:latin typeface="Roboto"/>
              </a:rPr>
              <a:t>I lead teams and mentor engineers.</a:t>
            </a:r>
          </a:p>
        </p:txBody>
      </p:sp>
      <p:pic>
        <p:nvPicPr>
          <p:cNvPr id="15" name="Picture 14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THE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YOU'RE PAGED: CHECKOUT IS SLOW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5486400" cy="4160520"/>
          </a:xfrm>
          <a:prstGeom prst="roundRect">
            <a:avLst>
              <a:gd name="adj" fmla="val 1497"/>
            </a:avLst>
          </a:prstGeom>
          <a:solidFill>
            <a:srgbClr val="1E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8C2CA"/>
                </a:solidFill>
                <a:latin typeface="Roboto Condensed"/>
              </a:rPr>
              <a:t>ALERT · 03:12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7548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1" i="0">
                <a:solidFill>
                  <a:srgbClr val="FFFFFF"/>
                </a:solidFill>
                <a:latin typeface="Roboto Condensed"/>
              </a:rPr>
              <a:t>CHECKOUT P95 LATENCY HIGH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A8C2CA"/>
                </a:solidFill>
                <a:latin typeface="Roboto"/>
              </a:rPr>
              <a:t>Two PostgreSQL clusters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82495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37360"/>
            <a:ext cx="4480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Which cluster?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0" y="2971800"/>
            <a:ext cx="5394960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0" y="309981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154680"/>
            <a:ext cx="4480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Which query?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0" y="4389120"/>
            <a:ext cx="5394960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0" y="451713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572000"/>
            <a:ext cx="4480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Why? What fixes it?</a:t>
            </a:r>
          </a:p>
        </p:txBody>
      </p:sp>
      <p:pic>
        <p:nvPicPr>
          <p:cNvPr id="17" name="Picture 16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THREE TOOLS AND ONE BLIND SPOT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37360"/>
            <a:ext cx="1371600" cy="274320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 Condensed"/>
              </a:rPr>
              <a:t>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286000"/>
            <a:ext cx="3454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Statements and errors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743200"/>
            <a:ext cx="345429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In a log aggregator.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94378" y="1737360"/>
            <a:ext cx="0" cy="246888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68698" y="1737360"/>
            <a:ext cx="1371600" cy="274320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 Condensed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2286000"/>
            <a:ext cx="3454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Instance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2743200"/>
            <a:ext cx="345429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In a time-series database.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97316" y="1737360"/>
            <a:ext cx="0" cy="246888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71636" y="1737360"/>
            <a:ext cx="1371600" cy="274320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Roboto Condensed"/>
              </a:rPr>
              <a:t>TRACES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1636" y="2286000"/>
            <a:ext cx="3454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Stop at the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2743200"/>
            <a:ext cx="345429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The span tree ends at the database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892040"/>
            <a:ext cx="11460175" cy="566928"/>
          </a:xfrm>
          <a:prstGeom prst="roundRect">
            <a:avLst>
              <a:gd name="adj" fmla="val 5424"/>
            </a:avLst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400" b="1">
                <a:solidFill>
                  <a:srgbClr val="28495A"/>
                </a:solidFill>
                <a:latin typeface="Roboto Condensed"/>
              </a:rPr>
              <a:t>THE COST   </a:t>
            </a:r>
            <a:r>
              <a:rPr sz="1400">
                <a:solidFill>
                  <a:srgbClr val="28495A"/>
                </a:solidFill>
                <a:latin typeface="Roboto"/>
              </a:rPr>
              <a:t>No path from a slow request to the SQL plan behind it.</a:t>
            </a:r>
          </a:p>
        </p:txBody>
      </p:sp>
      <p:pic>
        <p:nvPicPr>
          <p:cNvPr id="17" name="Picture 16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ONE PLATFORM WIRED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36192"/>
            <a:ext cx="248785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67F8D"/>
                </a:solidFill>
                <a:latin typeface="Roboto Condensed"/>
              </a:rPr>
              <a:t>PER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6533" y="1536192"/>
            <a:ext cx="248785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67F8D"/>
                </a:solidFill>
                <a:latin typeface="Roboto Condensed"/>
              </a:rPr>
              <a:t>COLLECT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7307" y="1536192"/>
            <a:ext cx="248785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67F8D"/>
                </a:solidFill>
                <a:latin typeface="Roboto Condensed"/>
              </a:rPr>
              <a:t>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8081" y="1536192"/>
            <a:ext cx="248785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67F8D"/>
                </a:solidFill>
                <a:latin typeface="Roboto Condensed"/>
              </a:rPr>
              <a:t>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74519"/>
            <a:ext cx="2487853" cy="8686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8495A"/>
                </a:solidFill>
                <a:latin typeface="Roboto Condensed"/>
              </a:rPr>
              <a:t>pg_tracing</a:t>
            </a:r>
          </a:p>
          <a:p>
            <a:pPr algn="ctr"/>
            <a:r>
              <a:rPr sz="1200">
                <a:solidFill>
                  <a:srgbClr val="567F8D"/>
                </a:solidFill>
                <a:latin typeface="Roboto"/>
              </a:rPr>
              <a:t>spans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926079"/>
            <a:ext cx="2487853" cy="8686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8495A"/>
                </a:solidFill>
                <a:latin typeface="Roboto Condensed"/>
              </a:rPr>
              <a:t>pg_stat_ch</a:t>
            </a:r>
          </a:p>
          <a:p>
            <a:pPr algn="ctr"/>
            <a:r>
              <a:rPr sz="1200">
                <a:solidFill>
                  <a:srgbClr val="567F8D"/>
                </a:solidFill>
                <a:latin typeface="Roboto"/>
              </a:rPr>
              <a:t>query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977639"/>
            <a:ext cx="2487853" cy="8686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8495A"/>
                </a:solidFill>
                <a:latin typeface="Roboto Condensed"/>
              </a:rPr>
              <a:t>Server log</a:t>
            </a:r>
          </a:p>
          <a:p>
            <a:pPr algn="ctr"/>
            <a:r>
              <a:rPr sz="1200">
                <a:solidFill>
                  <a:srgbClr val="567F8D"/>
                </a:solidFill>
                <a:latin typeface="Roboto"/>
              </a:rPr>
              <a:t>container stdout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6533" y="1874519"/>
            <a:ext cx="2487853" cy="17830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8495A"/>
                </a:solidFill>
                <a:latin typeface="Roboto Condensed"/>
              </a:rPr>
              <a:t>OTel gateway</a:t>
            </a:r>
          </a:p>
          <a:p>
            <a:pPr algn="ctr"/>
            <a:r>
              <a:rPr sz="1200">
                <a:solidFill>
                  <a:srgbClr val="567F8D"/>
                </a:solidFill>
                <a:latin typeface="Roboto"/>
              </a:rPr>
              <a:t>OTLP and Prometheus scrape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794760"/>
            <a:ext cx="2487853" cy="1051559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28495A"/>
                </a:solidFill>
                <a:latin typeface="Roboto Condensed"/>
              </a:rPr>
              <a:t>OTel agent</a:t>
            </a:r>
          </a:p>
          <a:p>
            <a:pPr algn="ctr"/>
            <a:r>
              <a:rPr sz="1200">
                <a:solidFill>
                  <a:srgbClr val="567F8D"/>
                </a:solidFill>
                <a:latin typeface="Roboto"/>
              </a:rPr>
              <a:t>tails server logs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47307" y="1874519"/>
            <a:ext cx="2487853" cy="2971800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  <a:latin typeface="Roboto Condensed"/>
              </a:rPr>
              <a:t>ClickHouse</a:t>
            </a:r>
          </a:p>
          <a:p>
            <a:pPr algn="ctr"/>
            <a:r>
              <a:rPr sz="1900">
                <a:solidFill>
                  <a:srgbClr val="A8C2CA"/>
                </a:solidFill>
                <a:latin typeface="Roboto"/>
              </a:rPr>
              <a:t>one schema for all signals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38081" y="1874519"/>
            <a:ext cx="2487853" cy="2971800"/>
          </a:xfrm>
          <a:prstGeom prst="roundRect">
            <a:avLst>
              <a:gd name="adj" fmla="val 5424"/>
            </a:avLst>
          </a:prstGeom>
          <a:solidFill>
            <a:srgbClr val="1E3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200" b="1">
                <a:solidFill>
                  <a:srgbClr val="FFFFFF"/>
                </a:solidFill>
                <a:latin typeface="Roboto Condensed"/>
              </a:rPr>
              <a:t>Grafana</a:t>
            </a:r>
          </a:p>
          <a:p>
            <a:pPr algn="ctr"/>
            <a:r>
              <a:rPr sz="1900">
                <a:solidFill>
                  <a:srgbClr val="A8C2CA"/>
                </a:solidFill>
                <a:latin typeface="Roboto"/>
              </a:rPr>
              <a:t>one datasource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90189" y="2308860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890189" y="3360420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0189" y="4411979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880963" y="2766060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80963" y="4320540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871737" y="3360420"/>
            <a:ext cx="42976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4956048"/>
            <a:ext cx="248785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"/>
              </a:rPr>
              <a:t>One namespace per cluster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5760" y="5440680"/>
            <a:ext cx="11460175" cy="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5559552"/>
            <a:ext cx="55014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8495A"/>
                </a:solidFill>
                <a:latin typeface="Roboto"/>
              </a:rPr>
              <a:t>Join key: query_id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5559552"/>
            <a:ext cx="550148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8495A"/>
                </a:solidFill>
                <a:latin typeface="Roboto"/>
              </a:rPr>
              <a:t>Why ClickHouse: columnar, cheap to keep, fast to query.</a:t>
            </a:r>
          </a:p>
        </p:txBody>
      </p:sp>
      <p:pic>
        <p:nvPicPr>
          <p:cNvPr id="26" name="Picture 25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CLOUDNATIVEPG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PER CLUSTER: THREE SETTINGS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7040880" cy="3017520"/>
          </a:xfrm>
          <a:prstGeom prst="roundRect">
            <a:avLst>
              <a:gd name="adj" fmla="val 1497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6583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spec: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imageCatalogRef: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kind: ClusterImageCatalog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name: o11y-postgres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major: 18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postgresql: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shared_preload_libraries: [pg_tracing, pg_stat_ch]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parameters: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  compute_query_id: "on"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  pg_tracing.otel_endpoint: http://otel-collector.o11y:4318/v1/traces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8495A"/>
                </a:solidFill>
                <a:latin typeface="Courier New"/>
              </a:rPr>
              <a:t>      pg_stat_ch.otel_endpoint: otel-collector.o11y:4317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63677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9164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Load both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5740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shared_preload_libraries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68833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7432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Compute query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10896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The join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373989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79476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Point at the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1605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OTLP for spans and events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120640"/>
            <a:ext cx="11460175" cy="566928"/>
          </a:xfrm>
          <a:prstGeom prst="roundRect">
            <a:avLst>
              <a:gd name="adj" fmla="val 5424"/>
            </a:avLst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400" b="1">
                <a:solidFill>
                  <a:srgbClr val="28495A"/>
                </a:solidFill>
                <a:latin typeface="Roboto Condensed"/>
              </a:rPr>
              <a:t>ONE-TIME COST   </a:t>
            </a:r>
            <a:r>
              <a:rPr sz="1400">
                <a:solidFill>
                  <a:srgbClr val="28495A"/>
                </a:solidFill>
                <a:latin typeface="Roboto"/>
              </a:rPr>
              <a:t>pg_tracing and pg_stat_ch live in one image shared by every cluster.</a:t>
            </a:r>
          </a:p>
        </p:txBody>
      </p:sp>
      <p:pic>
        <p:nvPicPr>
          <p:cNvPr id="17" name="Picture 16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E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2834640"/>
            <a:ext cx="82296" cy="65836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871216"/>
            <a:ext cx="11094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Roboto Condensed"/>
              </a:rPr>
              <a:t>LIVE DEMO: THE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58444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C2CA"/>
                </a:solidFill>
                <a:latin typeface="Roboto"/>
              </a:rPr>
              <a:t>Locate  ·  Narrow  ·  Diagnose  ·  Fix  ·  Verify</a:t>
            </a:r>
          </a:p>
        </p:txBody>
      </p:sp>
      <p:pic>
        <p:nvPicPr>
          <p:cNvPr id="6" name="Picture 5" descr="edb_postgres_ai_dark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A8C2CA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345429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8495A"/>
                </a:solidFill>
                <a:latin typeface="Roboto Condense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560320"/>
            <a:ext cx="34542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Three pillars on one backend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345429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One schema and one Grafana datasource for all three signals.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94378" y="1737360"/>
            <a:ext cx="0" cy="292608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368698" y="1691640"/>
            <a:ext cx="345429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8495A"/>
                </a:solidFill>
                <a:latin typeface="Roboto Condense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8698" y="2560320"/>
            <a:ext cx="34542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PostgreSQL inside 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8698" y="3291840"/>
            <a:ext cx="345429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pg_tracing extends the application trace into the plan and execution.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97316" y="1737360"/>
            <a:ext cx="0" cy="2926080"/>
          </a:xfrm>
          <a:prstGeom prst="line">
            <a:avLst/>
          </a:prstGeom>
          <a:ln w="12700">
            <a:solidFill>
              <a:srgbClr val="A8C2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371636" y="1691640"/>
            <a:ext cx="345429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28495A"/>
                </a:solidFill>
                <a:latin typeface="Roboto Condense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1636" y="2560320"/>
            <a:ext cx="34542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000" b="1" i="0">
                <a:solidFill>
                  <a:srgbClr val="28495A"/>
                </a:solidFill>
                <a:latin typeface="Roboto Condensed"/>
              </a:rPr>
              <a:t>One join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1636" y="3291840"/>
            <a:ext cx="345429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67F8D"/>
                </a:solidFill>
                <a:latin typeface="Roboto"/>
              </a:rPr>
              <a:t>query_id links spans, events and logs across plan changes.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074920"/>
            <a:ext cx="11460175" cy="566928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500" b="1">
                <a:solidFill>
                  <a:srgbClr val="E7C568"/>
                </a:solidFill>
                <a:latin typeface="Roboto Condensed"/>
              </a:rPr>
              <a:t>THE POINT   </a:t>
            </a:r>
            <a:r>
              <a:rPr sz="1500">
                <a:solidFill>
                  <a:srgbClr val="FFFFFF"/>
                </a:solidFill>
                <a:latin typeface="Roboto"/>
              </a:rPr>
              <a:t>From the page to the root cause in one Grafana view.</a:t>
            </a:r>
          </a:p>
        </p:txBody>
      </p:sp>
      <p:pic>
        <p:nvPicPr>
          <p:cNvPr id="17" name="Picture 16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IMPROVEMENTS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2821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8308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Extension image volumes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Replace the custom image. Needs PG 18 and Kubernetes 1.35+.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79775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834639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Log above a threshold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399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Not every statement.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3133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Replicas and backups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2519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CNPG provides both.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882896"/>
            <a:ext cx="868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28495A"/>
                </a:solidFill>
                <a:latin typeface="Roboto Condense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37759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28495A"/>
                </a:solidFill>
                <a:latin typeface="Roboto Condensed"/>
              </a:rPr>
              <a:t>Retention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303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Set a ClickHouse TTL.</a:t>
            </a:r>
          </a:p>
        </p:txBody>
      </p:sp>
      <p:pic>
        <p:nvPicPr>
          <p:cNvPr id="17" name="Picture 16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E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E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9456" y="841248"/>
            <a:ext cx="82296" cy="65836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877824"/>
            <a:ext cx="114601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Roboto Condensed"/>
              </a:rPr>
              <a:t>LET'S KEEP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91056"/>
            <a:ext cx="11460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A8C2CA"/>
                </a:solidFill>
                <a:latin typeface="Roboto"/>
              </a:rPr>
              <a:t>Open source (MIT). Scan, clone, break it.</a:t>
            </a:r>
          </a:p>
        </p:txBody>
      </p:sp>
      <p:pic>
        <p:nvPicPr>
          <p:cNvPr id="6" name="Picture 5" descr="edb_postgres_ai_dark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A8C2CA"/>
                </a:solidFill>
                <a:latin typeface="Roboto"/>
              </a:rPr>
              <a:t>©EDB 2026 — ALL RIGHTS RESERVED.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94560"/>
            <a:ext cx="1828800" cy="1828800"/>
          </a:xfrm>
          <a:prstGeom prst="roundRect">
            <a:avLst>
              <a:gd name="adj" fmla="val 1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60320" y="26974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8C2CA"/>
                </a:solidFill>
                <a:latin typeface="Roboto Condensed"/>
              </a:rPr>
              <a:t>DEMO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017520"/>
            <a:ext cx="8686800" cy="457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Roboto"/>
              </a:rPr>
              <a:t>github.com/gabrosys/postgres-k8s-unified-o11y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51960"/>
            <a:ext cx="1828800" cy="1828800"/>
          </a:xfrm>
          <a:prstGeom prst="roundRect">
            <a:avLst>
              <a:gd name="adj" fmla="val 149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nked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34340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60320" y="475488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A8C2CA"/>
                </a:solidFill>
                <a:latin typeface="Roboto Condensed"/>
              </a:rPr>
              <a:t>LINKEDIN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5074920"/>
            <a:ext cx="8686800" cy="457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Roboto"/>
              </a:rPr>
              <a:t>linkedin.com/in/gabriele-rossini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QUERY_ID JOINS EVERY SIGNAL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45920"/>
            <a:ext cx="11460175" cy="1325880"/>
          </a:xfrm>
          <a:prstGeom prst="roundRect">
            <a:avLst>
              <a:gd name="adj" fmla="val 1497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828800"/>
            <a:ext cx="11002975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8495A"/>
                </a:solidFill>
                <a:latin typeface="Courier New"/>
              </a:rPr>
              <a:t>otel_traces.SpanAttributes['query.query_id']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8495A"/>
                </a:solidFill>
                <a:latin typeface="Courier New"/>
              </a:rPr>
              <a:t>otel_logs.LogAttributes['query_id']   -- ServiceName = 'pg_stat_ch'</a:t>
            </a:r>
          </a:p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8495A"/>
                </a:solidFill>
                <a:latin typeface="Courier New"/>
              </a:rPr>
              <a:t>otel_logs.LogAttributes['query_id']   -- ServiceName = 'postgres-server-log'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337560"/>
            <a:ext cx="536432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8495A"/>
                </a:solidFill>
                <a:latin typeface="Roboto Condensed"/>
              </a:rPr>
              <a:t>Derived from the parse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85032"/>
            <a:ext cx="536432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Stable across plan changes.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1607" y="3337560"/>
            <a:ext cx="536432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8495A"/>
                </a:solidFill>
                <a:latin typeface="Roboto Condensed"/>
              </a:rPr>
              <a:t>Needs two settings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3685032"/>
            <a:ext cx="536432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compute_query_id on and statement logging.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754880"/>
            <a:ext cx="536432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8495A"/>
                </a:solidFill>
                <a:latin typeface="Roboto Condensed"/>
              </a:rPr>
              <a:t>Metrics join by time and pod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02352"/>
            <a:ext cx="536432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They describe whole instances.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4754880"/>
            <a:ext cx="536432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8495A"/>
                </a:solidFill>
                <a:latin typeface="Roboto Condensed"/>
              </a:rPr>
              <a:t>Traces and logs join by trace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5102352"/>
            <a:ext cx="536432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67F8D"/>
                </a:solidFill>
                <a:latin typeface="Roboto"/>
              </a:rPr>
              <a:t>The traceparent is in the logged statement.</a:t>
            </a:r>
          </a:p>
        </p:txBody>
      </p:sp>
      <p:pic>
        <p:nvPicPr>
          <p:cNvPr id="15" name="Picture 14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456" y="420623"/>
            <a:ext cx="82296" cy="566928"/>
          </a:xfrm>
          <a:prstGeom prst="rect">
            <a:avLst/>
          </a:prstGeom>
          <a:solidFill>
            <a:srgbClr val="E7C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84048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67F8D"/>
                </a:solidFill>
                <a:latin typeface="Roboto Condensed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03503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1" i="0">
                <a:solidFill>
                  <a:srgbClr val="28495A"/>
                </a:solidFill>
                <a:latin typeface="Roboto Condensed"/>
              </a:rPr>
              <a:t>THE EXTENSION IMAGE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37360"/>
            <a:ext cx="2556433" cy="15544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28495A"/>
                </a:solidFill>
                <a:latin typeface="Roboto Condensed"/>
              </a:rPr>
              <a:t>CNPG base image</a:t>
            </a:r>
          </a:p>
          <a:p>
            <a:pPr algn="ctr"/>
            <a:r>
              <a:rPr sz="1400">
                <a:solidFill>
                  <a:srgbClr val="567F8D"/>
                </a:solidFill>
                <a:latin typeface="Roboto"/>
              </a:rPr>
              <a:t>postgresql:18-standard-bookworm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8769" y="2514600"/>
            <a:ext cx="33832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333673" y="1737360"/>
            <a:ext cx="2556433" cy="15544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28495A"/>
                </a:solidFill>
                <a:latin typeface="Roboto Condensed"/>
              </a:rPr>
              <a:t>pg_tracing</a:t>
            </a:r>
          </a:p>
          <a:p>
            <a:pPr algn="ctr"/>
            <a:r>
              <a:rPr sz="1400">
                <a:solidFill>
                  <a:srgbClr val="567F8D"/>
                </a:solidFill>
                <a:latin typeface="Roboto"/>
              </a:rPr>
              <a:t>pinned commit; v0.1.3 predates PG 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926683" y="2514600"/>
            <a:ext cx="33832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301587" y="1737360"/>
            <a:ext cx="2556433" cy="1554480"/>
          </a:xfrm>
          <a:prstGeom prst="roundRect">
            <a:avLst>
              <a:gd name="adj" fmla="val 5424"/>
            </a:avLst>
          </a:prstGeom>
          <a:solidFill>
            <a:srgbClr val="E8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28495A"/>
                </a:solidFill>
                <a:latin typeface="Roboto Condensed"/>
              </a:rPr>
              <a:t>pg_stat_ch</a:t>
            </a:r>
          </a:p>
          <a:p>
            <a:pPr algn="ctr"/>
            <a:r>
              <a:rPr sz="1400">
                <a:solidFill>
                  <a:srgbClr val="567F8D"/>
                </a:solidFill>
                <a:latin typeface="Roboto"/>
              </a:rPr>
              <a:t>release v0.4.0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94597" y="2514600"/>
            <a:ext cx="338328" cy="0"/>
          </a:xfrm>
          <a:prstGeom prst="line">
            <a:avLst/>
          </a:prstGeom>
          <a:ln w="15875">
            <a:solidFill>
              <a:srgbClr val="567F8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269501" y="1737360"/>
            <a:ext cx="2556433" cy="1554480"/>
          </a:xfrm>
          <a:prstGeom prst="roundRect">
            <a:avLst>
              <a:gd name="adj" fmla="val 5424"/>
            </a:avLst>
          </a:prstGeom>
          <a:solidFill>
            <a:srgbClr val="2849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FFFFF"/>
                </a:solidFill>
                <a:latin typeface="Roboto Condensed"/>
              </a:rPr>
              <a:t>o11y-postgres:18</a:t>
            </a:r>
          </a:p>
          <a:p>
            <a:pPr algn="ctr"/>
            <a:r>
              <a:rPr sz="1400">
                <a:solidFill>
                  <a:srgbClr val="A8C2CA"/>
                </a:solidFill>
                <a:latin typeface="Roboto"/>
              </a:rPr>
              <a:t>ClusterImageCatalog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94760"/>
            <a:ext cx="114601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8495A"/>
                </a:solidFill>
                <a:latin typeface="Roboto"/>
              </a:rPr>
              <a:t>Upstream -Werror is dropped so pg_tracing builds on PG 18.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361688"/>
            <a:ext cx="114601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8495A"/>
                </a:solidFill>
                <a:latin typeface="Roboto"/>
              </a:rPr>
              <a:t>pg_tracing links libcurl. The final stage installs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928616"/>
            <a:ext cx="1146017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8495A"/>
                </a:solidFill>
                <a:latin typeface="Roboto"/>
              </a:rPr>
              <a:t>The image is loaded into KIND and referenced through the catalog.</a:t>
            </a:r>
          </a:p>
        </p:txBody>
      </p:sp>
      <p:pic>
        <p:nvPicPr>
          <p:cNvPr id="15" name="Picture 14" descr="edb_postgres_ai_light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419088"/>
            <a:ext cx="877824" cy="201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59775" y="6437376"/>
            <a:ext cx="3657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567F8D"/>
                </a:solidFill>
                <a:latin typeface="Roboto"/>
              </a:rPr>
              <a:t>©EDB 2026 —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Unified observability for PostgreSQL on Kubernetes</dc:title>
  <dc:subject/>
  <dc:creator>Gabriele Rossini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