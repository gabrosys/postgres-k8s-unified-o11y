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2148840"/>
            <a:ext cx="82296" cy="1325880"/>
          </a:xfrm>
          <a:prstGeom prst="rect">
            <a:avLst/>
          </a:prstGeom>
          <a:solidFill>
            <a:srgbClr val="E7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176272"/>
            <a:ext cx="114601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 i="0">
                <a:solidFill>
                  <a:srgbClr val="FFFFFF"/>
                </a:solidFill>
                <a:latin typeface="Roboto Condensed"/>
              </a:rPr>
              <a:t>UNIFIED OBSERVABILITY</a:t>
            </a:r>
          </a:p>
          <a:p>
            <a:pPr algn="l">
              <a:lnSpc>
                <a:spcPct val="95000"/>
              </a:lnSpc>
            </a:pPr>
            <a:r>
              <a:rPr sz="3800" b="1" i="0">
                <a:solidFill>
                  <a:srgbClr val="FFFFFF"/>
                </a:solidFill>
                <a:latin typeface="Roboto Condensed"/>
              </a:rPr>
              <a:t>FOR POSTGRESQL ON KUBERNETES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657600"/>
            <a:ext cx="1146017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A8C2CA"/>
                </a:solidFill>
                <a:latin typeface="Roboto"/>
              </a:rPr>
              <a:t>Logs, traces and metrics under one 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09160"/>
            <a:ext cx="11460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Roboto Condensed"/>
              </a:rPr>
              <a:t>GABRIELE ROSSINI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029200"/>
            <a:ext cx="11460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8C2CA"/>
                </a:solidFill>
                <a:latin typeface="Roboto"/>
              </a:rPr>
              <a:t>Senior Staff Software Engineer at EDB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349240"/>
            <a:ext cx="11460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8C2CA"/>
                </a:solidFill>
                <a:latin typeface="Roboto"/>
              </a:rPr>
              <a:t>PGConf.EU 2026  ·  Valencia, Spain</a:t>
            </a:r>
          </a:p>
        </p:txBody>
      </p:sp>
      <p:pic>
        <p:nvPicPr>
          <p:cNvPr id="9" name="Picture 8" descr="edb_postgres_ai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419088"/>
            <a:ext cx="877824" cy="201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59775" y="6437376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A8C2CA"/>
                </a:solidFill>
                <a:latin typeface="Roboto"/>
              </a:rPr>
              <a:t>©EDB 2026 —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420623"/>
            <a:ext cx="82296" cy="566928"/>
          </a:xfrm>
          <a:prstGeom prst="rect">
            <a:avLst/>
          </a:prstGeom>
          <a:solidFill>
            <a:srgbClr val="E7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67F8D"/>
                </a:solidFill>
                <a:latin typeface="Roboto Condensed"/>
              </a:rPr>
              <a:t>SPEAKER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3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28495A"/>
                </a:solidFill>
                <a:latin typeface="Roboto Condensed"/>
              </a:rPr>
              <a:t>ABOUT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8495A"/>
                </a:solidFill>
                <a:latin typeface="Roboto Condensed"/>
              </a:rPr>
              <a:t>GABRIELE ROSSINI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2316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567F8D"/>
                </a:solidFill>
                <a:latin typeface="Roboto"/>
              </a:rPr>
              <a:t>Senior Staff Software Engineer at EDB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614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67F8D"/>
                </a:solidFill>
                <a:latin typeface="Roboto"/>
              </a:rPr>
              <a:t>The Hague, Netherlands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246120"/>
            <a:ext cx="2468880" cy="310896"/>
          </a:xfrm>
          <a:prstGeom prst="roundRect">
            <a:avLst>
              <a:gd name="adj" fmla="val 5424"/>
            </a:avLst>
          </a:prstGeom>
          <a:solidFill>
            <a:srgbClr val="28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Roboto Condensed"/>
              </a:rPr>
              <a:t>APPRENTICE SPEAKER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" y="3822191"/>
            <a:ext cx="8229600" cy="0"/>
          </a:xfrm>
          <a:prstGeom prst="line">
            <a:avLst/>
          </a:prstGeom>
          <a:ln w="12700">
            <a:solidFill>
              <a:srgbClr val="A8C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5760" y="393192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8495A"/>
                </a:solidFill>
                <a:latin typeface="Roboto"/>
              </a:rPr>
              <a:t>I build Postgres observability for Kubernetes and traditional infrastructure.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535424"/>
            <a:ext cx="8229600" cy="0"/>
          </a:xfrm>
          <a:prstGeom prst="line">
            <a:avLst/>
          </a:prstGeom>
          <a:ln w="12700">
            <a:solidFill>
              <a:srgbClr val="A8C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" y="4645152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8495A"/>
                </a:solidFill>
                <a:latin typeface="Roboto"/>
              </a:rPr>
              <a:t>Ten years from full-stack to backend and telemetry.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5760" y="5248655"/>
            <a:ext cx="8229600" cy="0"/>
          </a:xfrm>
          <a:prstGeom prst="line">
            <a:avLst/>
          </a:prstGeom>
          <a:ln w="12700">
            <a:solidFill>
              <a:srgbClr val="A8C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5760" y="5358383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8495A"/>
                </a:solidFill>
                <a:latin typeface="Roboto"/>
              </a:rPr>
              <a:t>I lead teams and mentor engineers.</a:t>
            </a:r>
          </a:p>
        </p:txBody>
      </p:sp>
      <p:pic>
        <p:nvPicPr>
          <p:cNvPr id="15" name="Picture 14" descr="edb_postgres_ai_light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419088"/>
            <a:ext cx="877824" cy="201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59775" y="6437376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67F8D"/>
                </a:solidFill>
                <a:latin typeface="Roboto"/>
              </a:rPr>
              <a:t>©EDB 2026 —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420623"/>
            <a:ext cx="82296" cy="566928"/>
          </a:xfrm>
          <a:prstGeom prst="rect">
            <a:avLst/>
          </a:prstGeom>
          <a:solidFill>
            <a:srgbClr val="E7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67F8D"/>
                </a:solidFill>
                <a:latin typeface="Roboto Condensed"/>
              </a:rPr>
              <a:t>THE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3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28495A"/>
                </a:solidFill>
                <a:latin typeface="Roboto Condensed"/>
              </a:rPr>
              <a:t>YOU'RE PAGED: CHECKOUT IS SLOW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5486400" cy="4160520"/>
          </a:xfrm>
          <a:prstGeom prst="roundRect">
            <a:avLst>
              <a:gd name="adj" fmla="val 1497"/>
            </a:avLst>
          </a:prstGeom>
          <a:solidFill>
            <a:srgbClr val="1E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8C2CA"/>
                </a:solidFill>
                <a:latin typeface="Roboto Condensed"/>
              </a:rPr>
              <a:t>ALERT · 03:12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 i="0">
                <a:solidFill>
                  <a:srgbClr val="FFFFFF"/>
                </a:solidFill>
                <a:latin typeface="Roboto Condensed"/>
              </a:rPr>
              <a:t>CHECKOUT P95 LATENCY 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8C2CA"/>
                </a:solidFill>
                <a:latin typeface="Roboto"/>
              </a:rPr>
              <a:t>Two PostgreSQL clusters behind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82495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8495A"/>
                </a:solidFill>
                <a:latin typeface="Roboto Condense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37360"/>
            <a:ext cx="4480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495A"/>
                </a:solidFill>
                <a:latin typeface="Roboto Condensed"/>
              </a:rPr>
              <a:t>Which cluster?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0" y="2971800"/>
            <a:ext cx="5394960" cy="0"/>
          </a:xfrm>
          <a:prstGeom prst="line">
            <a:avLst/>
          </a:prstGeom>
          <a:ln w="12700">
            <a:solidFill>
              <a:srgbClr val="A8C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0" y="3099816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8495A"/>
                </a:solidFill>
                <a:latin typeface="Roboto Condense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154680"/>
            <a:ext cx="4480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495A"/>
                </a:solidFill>
                <a:latin typeface="Roboto Condensed"/>
              </a:rPr>
              <a:t>Which query?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0" y="4389120"/>
            <a:ext cx="5394960" cy="0"/>
          </a:xfrm>
          <a:prstGeom prst="line">
            <a:avLst/>
          </a:prstGeom>
          <a:ln w="12700">
            <a:solidFill>
              <a:srgbClr val="A8C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0" y="4517136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8495A"/>
                </a:solidFill>
                <a:latin typeface="Roboto Condense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572000"/>
            <a:ext cx="4480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495A"/>
                </a:solidFill>
                <a:latin typeface="Roboto Condensed"/>
              </a:rPr>
              <a:t>Why? What fixes it?</a:t>
            </a:r>
          </a:p>
        </p:txBody>
      </p:sp>
      <p:pic>
        <p:nvPicPr>
          <p:cNvPr id="17" name="Picture 16" descr="edb_postgres_ai_light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419088"/>
            <a:ext cx="877824" cy="2011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59775" y="6437376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67F8D"/>
                </a:solidFill>
                <a:latin typeface="Roboto"/>
              </a:rPr>
              <a:t>©EDB 2026 —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420623"/>
            <a:ext cx="82296" cy="566928"/>
          </a:xfrm>
          <a:prstGeom prst="rect">
            <a:avLst/>
          </a:prstGeom>
          <a:solidFill>
            <a:srgbClr val="E7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67F8D"/>
                </a:solidFill>
                <a:latin typeface="Roboto Condensed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3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28495A"/>
                </a:solidFill>
                <a:latin typeface="Roboto Condensed"/>
              </a:rPr>
              <a:t>THREE TOOLS AND ONE BLIND SPOT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1371600" cy="274320"/>
          </a:xfrm>
          <a:prstGeom prst="roundRect">
            <a:avLst>
              <a:gd name="adj" fmla="val 5424"/>
            </a:avLst>
          </a:prstGeom>
          <a:solidFill>
            <a:srgbClr val="28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3454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8495A"/>
                </a:solidFill>
                <a:latin typeface="Roboto Condensed"/>
              </a:rPr>
              <a:t>Statements and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43200"/>
            <a:ext cx="345429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67F8D"/>
                </a:solidFill>
                <a:latin typeface="Roboto"/>
              </a:rPr>
              <a:t>In a log aggregator.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94378" y="1737360"/>
            <a:ext cx="0" cy="2468880"/>
          </a:xfrm>
          <a:prstGeom prst="line">
            <a:avLst/>
          </a:prstGeom>
          <a:ln w="12700">
            <a:solidFill>
              <a:srgbClr val="A8C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68698" y="1737360"/>
            <a:ext cx="1371600" cy="274320"/>
          </a:xfrm>
          <a:prstGeom prst="roundRect">
            <a:avLst>
              <a:gd name="adj" fmla="val 5424"/>
            </a:avLst>
          </a:prstGeom>
          <a:solidFill>
            <a:srgbClr val="28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698" y="2286000"/>
            <a:ext cx="3454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8495A"/>
                </a:solidFill>
                <a:latin typeface="Roboto Condensed"/>
              </a:rPr>
              <a:t>Instance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2743200"/>
            <a:ext cx="345429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67F8D"/>
                </a:solidFill>
                <a:latin typeface="Roboto"/>
              </a:rPr>
              <a:t>In a time-series database.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97316" y="1737360"/>
            <a:ext cx="0" cy="2468880"/>
          </a:xfrm>
          <a:prstGeom prst="line">
            <a:avLst/>
          </a:prstGeom>
          <a:ln w="12700">
            <a:solidFill>
              <a:srgbClr val="A8C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71636" y="1737360"/>
            <a:ext cx="1371600" cy="274320"/>
          </a:xfrm>
          <a:prstGeom prst="roundRect">
            <a:avLst>
              <a:gd name="adj" fmla="val 5424"/>
            </a:avLst>
          </a:prstGeom>
          <a:solidFill>
            <a:srgbClr val="28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Roboto Condensed"/>
              </a:rPr>
              <a:t>TRACES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1636" y="2286000"/>
            <a:ext cx="3454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8495A"/>
                </a:solidFill>
                <a:latin typeface="Roboto Condensed"/>
              </a:rPr>
              <a:t>Stop at the 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1636" y="2743200"/>
            <a:ext cx="345429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67F8D"/>
                </a:solidFill>
                <a:latin typeface="Roboto"/>
              </a:rPr>
              <a:t>The span tree ends at the database client.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892040"/>
            <a:ext cx="11460175" cy="566928"/>
          </a:xfrm>
          <a:prstGeom prst="roundRect">
            <a:avLst>
              <a:gd name="adj" fmla="val 5424"/>
            </a:avLst>
          </a:prstGeom>
          <a:solidFill>
            <a:srgbClr val="E7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l"/>
            <a:r>
              <a:rPr sz="1400" b="1">
                <a:solidFill>
                  <a:srgbClr val="28495A"/>
                </a:solidFill>
                <a:latin typeface="Roboto Condensed"/>
              </a:rPr>
              <a:t>THE COST   </a:t>
            </a:r>
            <a:r>
              <a:rPr sz="1400">
                <a:solidFill>
                  <a:srgbClr val="28495A"/>
                </a:solidFill>
                <a:latin typeface="Roboto"/>
              </a:rPr>
              <a:t>No path from a slow request to the SQL plan behind it.</a:t>
            </a:r>
          </a:p>
        </p:txBody>
      </p:sp>
      <p:pic>
        <p:nvPicPr>
          <p:cNvPr id="17" name="Picture 16" descr="edb_postgres_ai_light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419088"/>
            <a:ext cx="877824" cy="2011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59775" y="6437376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67F8D"/>
                </a:solidFill>
                <a:latin typeface="Roboto"/>
              </a:rPr>
              <a:t>©EDB 2026 —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420623"/>
            <a:ext cx="82296" cy="566928"/>
          </a:xfrm>
          <a:prstGeom prst="rect">
            <a:avLst/>
          </a:prstGeom>
          <a:solidFill>
            <a:srgbClr val="E7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67F8D"/>
                </a:solidFill>
                <a:latin typeface="Roboto Condensed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3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28495A"/>
                </a:solidFill>
                <a:latin typeface="Roboto Condensed"/>
              </a:rPr>
              <a:t>ONE PLATFORM WIRED ONCE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5760" y="5440680"/>
            <a:ext cx="11460175" cy="0"/>
          </a:xfrm>
          <a:prstGeom prst="line">
            <a:avLst/>
          </a:prstGeom>
          <a:ln w="12700">
            <a:solidFill>
              <a:srgbClr val="A8C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5760" y="5559552"/>
            <a:ext cx="55014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8495A"/>
                </a:solidFill>
                <a:latin typeface="Roboto"/>
              </a:rPr>
              <a:t>Traces and both log streams join on query_id.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8495A"/>
                </a:solidFill>
                <a:latin typeface="Roboto"/>
              </a:rPr>
              <a:t>Metrics join by time and pod name.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5559552"/>
            <a:ext cx="550148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8495A"/>
                </a:solidFill>
                <a:latin typeface="Roboto"/>
              </a:rPr>
              <a:t>Why ClickHouse: columnar, cheap to keep, fast to query.</a:t>
            </a:r>
          </a:p>
        </p:txBody>
      </p:sp>
      <p:pic>
        <p:nvPicPr>
          <p:cNvPr id="26" name="Picture 25" descr="edb_postgres_ai_light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419088"/>
            <a:ext cx="877824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59775" y="6437376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67F8D"/>
                </a:solidFill>
                <a:latin typeface="Roboto"/>
              </a:rPr>
              <a:t>©EDB 2026 — ALL RIGHTS RESERVED.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153619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>
                <a:solidFill>
                  <a:srgbClr val="567F8D"/>
                </a:solidFill>
                <a:latin typeface="Roboto Condensed"/>
              </a:rPr>
              <a:t>POSTGRESQL INSTANCES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9856" y="153619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>
                <a:solidFill>
                  <a:srgbClr val="567F8D"/>
                </a:solidFill>
                <a:latin typeface="Roboto Condensed"/>
              </a:rPr>
              <a:t>COLLECT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153619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>
                <a:solidFill>
                  <a:srgbClr val="567F8D"/>
                </a:solidFill>
                <a:latin typeface="Roboto Condensed"/>
              </a:rPr>
              <a:t>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8048" y="1536192"/>
            <a:ext cx="22860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1">
                <a:solidFill>
                  <a:srgbClr val="567F8D"/>
                </a:solidFill>
                <a:latin typeface="Roboto Condensed"/>
              </a:rPr>
              <a:t>QUERY</a:t>
            </a:r>
          </a:p>
        </p:txBody>
      </p:sp>
      <p:sp>
        <p:nvSpPr>
          <p:cNvPr id="32" name="Instance frame"/>
          <p:cNvSpPr/>
          <p:nvPr/>
        </p:nvSpPr>
        <p:spPr>
          <a:xfrm>
            <a:off x="365760" y="1828800"/>
            <a:ext cx="2286000" cy="3255264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A8C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5488" y="1938528"/>
            <a:ext cx="2066543" cy="676656"/>
          </a:xfrm>
          <a:prstGeom prst="roundRect">
            <a:avLst>
              <a:gd name="adj" fmla="val 5400"/>
            </a:avLst>
          </a:prstGeom>
          <a:solidFill>
            <a:srgbClr val="E8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8495A"/>
                </a:solidFill>
                <a:latin typeface="Roboto Condensed"/>
              </a:rPr>
              <a:t>pg_tracing</a:t>
            </a:r>
          </a:p>
          <a:p>
            <a:pPr algn="ctr"/>
            <a:r>
              <a:rPr sz="1200" b="0">
                <a:solidFill>
                  <a:srgbClr val="567F8D"/>
                </a:solidFill>
                <a:latin typeface="Roboto"/>
              </a:rPr>
              <a:t>query spans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" y="2724912"/>
            <a:ext cx="2066543" cy="676656"/>
          </a:xfrm>
          <a:prstGeom prst="roundRect">
            <a:avLst>
              <a:gd name="adj" fmla="val 5400"/>
            </a:avLst>
          </a:prstGeom>
          <a:solidFill>
            <a:srgbClr val="E8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8495A"/>
                </a:solidFill>
                <a:latin typeface="Roboto Condensed"/>
              </a:rPr>
              <a:t>pg_stat_ch</a:t>
            </a:r>
          </a:p>
          <a:p>
            <a:pPr algn="ctr"/>
            <a:r>
              <a:rPr sz="1200" b="0">
                <a:solidFill>
                  <a:srgbClr val="567F8D"/>
                </a:solidFill>
                <a:latin typeface="Roboto"/>
              </a:rPr>
              <a:t>query events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3511296"/>
            <a:ext cx="2066543" cy="676656"/>
          </a:xfrm>
          <a:prstGeom prst="roundRect">
            <a:avLst>
              <a:gd name="adj" fmla="val 5400"/>
            </a:avLst>
          </a:prstGeom>
          <a:solidFill>
            <a:srgbClr val="E8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8495A"/>
                </a:solidFill>
                <a:latin typeface="Roboto Condensed"/>
              </a:rPr>
              <a:t>Instance metrics</a:t>
            </a:r>
          </a:p>
          <a:p>
            <a:pPr algn="ctr"/>
            <a:r>
              <a:rPr sz="1200" b="0">
                <a:solidFill>
                  <a:srgbClr val="567F8D"/>
                </a:solidFill>
                <a:latin typeface="Roboto"/>
              </a:rPr>
              <a:t>CNPG exporter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4297680"/>
            <a:ext cx="2066543" cy="676656"/>
          </a:xfrm>
          <a:prstGeom prst="roundRect">
            <a:avLst>
              <a:gd name="adj" fmla="val 5400"/>
            </a:avLst>
          </a:prstGeom>
          <a:solidFill>
            <a:srgbClr val="E8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8495A"/>
                </a:solidFill>
                <a:latin typeface="Roboto Condensed"/>
              </a:rPr>
              <a:t>PostgreSQL log</a:t>
            </a:r>
          </a:p>
          <a:p>
            <a:pPr algn="ctr"/>
            <a:r>
              <a:rPr sz="1200" b="0">
                <a:solidFill>
                  <a:srgbClr val="567F8D"/>
                </a:solidFill>
                <a:latin typeface="Roboto"/>
              </a:rPr>
              <a:t>stdout of each instance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157216"/>
            <a:ext cx="2286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100" b="0">
                <a:solidFill>
                  <a:srgbClr val="567F8D"/>
                </a:solidFill>
                <a:latin typeface="Roboto"/>
              </a:rPr>
              <a:t>One namespace per cluster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19856" y="1938528"/>
            <a:ext cx="2286000" cy="2029967"/>
          </a:xfrm>
          <a:prstGeom prst="roundRect">
            <a:avLst>
              <a:gd name="adj" fmla="val 5400"/>
            </a:avLst>
          </a:prstGeom>
          <a:solidFill>
            <a:srgbClr val="E8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8495A"/>
                </a:solidFill>
                <a:latin typeface="Roboto Condensed"/>
              </a:rPr>
              <a:t>OTel gateway</a:t>
            </a:r>
          </a:p>
          <a:p>
            <a:pPr algn="ctr"/>
            <a:r>
              <a:rPr sz="1200" b="0">
                <a:solidFill>
                  <a:srgbClr val="567F8D"/>
                </a:solidFill>
                <a:latin typeface="Roboto"/>
              </a:rPr>
              <a:t>receives OTLP, scrapes metrics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19856" y="4297680"/>
            <a:ext cx="2286000" cy="676656"/>
          </a:xfrm>
          <a:prstGeom prst="roundRect">
            <a:avLst>
              <a:gd name="adj" fmla="val 5400"/>
            </a:avLst>
          </a:prstGeom>
          <a:solidFill>
            <a:srgbClr val="E8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8495A"/>
                </a:solidFill>
                <a:latin typeface="Roboto Condensed"/>
              </a:rPr>
              <a:t>OTel agent</a:t>
            </a:r>
          </a:p>
          <a:p>
            <a:pPr algn="ctr"/>
            <a:r>
              <a:rPr sz="1200" b="0">
                <a:solidFill>
                  <a:srgbClr val="567F8D"/>
                </a:solidFill>
                <a:latin typeface="Roboto"/>
              </a:rPr>
              <a:t>one per node, tails logs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73952" y="1938528"/>
            <a:ext cx="2286000" cy="3035808"/>
          </a:xfrm>
          <a:prstGeom prst="roundRect">
            <a:avLst>
              <a:gd name="adj" fmla="val 5400"/>
            </a:avLst>
          </a:prstGeom>
          <a:solidFill>
            <a:srgbClr val="28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Roboto Condensed"/>
              </a:rPr>
              <a:t>ClickHouse</a:t>
            </a:r>
          </a:p>
          <a:p>
            <a:pPr algn="ctr"/>
            <a:r>
              <a:rPr sz="1900" b="0">
                <a:solidFill>
                  <a:srgbClr val="A8C2CA"/>
                </a:solidFill>
                <a:latin typeface="Roboto"/>
              </a:rPr>
              <a:t>one schema for all signals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28048" y="1938528"/>
            <a:ext cx="2286000" cy="3035808"/>
          </a:xfrm>
          <a:prstGeom prst="roundRect">
            <a:avLst>
              <a:gd name="adj" fmla="val 5400"/>
            </a:avLst>
          </a:prstGeom>
          <a:solidFill>
            <a:srgbClr val="1E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Roboto Condensed"/>
              </a:rPr>
              <a:t>Grafana</a:t>
            </a:r>
          </a:p>
          <a:p>
            <a:pPr algn="ctr"/>
            <a:r>
              <a:rPr sz="1900" b="0">
                <a:solidFill>
                  <a:srgbClr val="A8C2CA"/>
                </a:solidFill>
                <a:latin typeface="Roboto"/>
              </a:rPr>
              <a:t>one datasource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542032" y="2276856"/>
            <a:ext cx="877824" cy="0"/>
          </a:xfrm>
          <a:prstGeom prst="line">
            <a:avLst/>
          </a:prstGeom>
          <a:ln w="15875">
            <a:solidFill>
              <a:srgbClr val="567F8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651760" y="2075688"/>
            <a:ext cx="76809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00" b="0">
                <a:solidFill>
                  <a:srgbClr val="567F8D"/>
                </a:solidFill>
                <a:latin typeface="Roboto"/>
              </a:rPr>
              <a:t>OTLP/HTTP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542032" y="3063240"/>
            <a:ext cx="877824" cy="0"/>
          </a:xfrm>
          <a:prstGeom prst="line">
            <a:avLst/>
          </a:prstGeom>
          <a:ln w="15875">
            <a:solidFill>
              <a:srgbClr val="567F8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651760" y="2862072"/>
            <a:ext cx="76809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00" b="0">
                <a:solidFill>
                  <a:srgbClr val="567F8D"/>
                </a:solidFill>
                <a:latin typeface="Roboto"/>
              </a:rPr>
              <a:t>OTLP/gRPC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42032" y="3849624"/>
            <a:ext cx="877824" cy="0"/>
          </a:xfrm>
          <a:prstGeom prst="line">
            <a:avLst/>
          </a:prstGeom>
          <a:ln w="15875">
            <a:solidFill>
              <a:srgbClr val="567F8D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51760" y="3648456"/>
            <a:ext cx="76809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00" b="0">
                <a:solidFill>
                  <a:srgbClr val="567F8D"/>
                </a:solidFill>
                <a:latin typeface="Roboto"/>
              </a:rPr>
              <a:t>scrape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542032" y="4636008"/>
            <a:ext cx="877824" cy="0"/>
          </a:xfrm>
          <a:prstGeom prst="line">
            <a:avLst/>
          </a:prstGeom>
          <a:ln w="15875">
            <a:solidFill>
              <a:srgbClr val="567F8D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651760" y="4434840"/>
            <a:ext cx="76809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00" b="0">
                <a:solidFill>
                  <a:srgbClr val="567F8D"/>
                </a:solidFill>
                <a:latin typeface="Roboto"/>
              </a:rPr>
              <a:t>file tail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4562856" y="3968496"/>
            <a:ext cx="0" cy="329184"/>
          </a:xfrm>
          <a:prstGeom prst="line">
            <a:avLst/>
          </a:prstGeom>
          <a:ln w="15875">
            <a:solidFill>
              <a:srgbClr val="567F8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654296" y="4050791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00" b="0">
                <a:solidFill>
                  <a:srgbClr val="567F8D"/>
                </a:solidFill>
                <a:latin typeface="Roboto"/>
              </a:rPr>
              <a:t>OTLP/gRPC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705856" y="2953512"/>
            <a:ext cx="768096" cy="0"/>
          </a:xfrm>
          <a:prstGeom prst="line">
            <a:avLst/>
          </a:prstGeom>
          <a:ln w="15875">
            <a:solidFill>
              <a:srgbClr val="567F8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705856" y="2752344"/>
            <a:ext cx="76809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00" b="0">
                <a:solidFill>
                  <a:srgbClr val="567F8D"/>
                </a:solidFill>
                <a:latin typeface="Roboto"/>
              </a:rPr>
              <a:t>insert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759952" y="3456432"/>
            <a:ext cx="768096" cy="0"/>
          </a:xfrm>
          <a:prstGeom prst="line">
            <a:avLst/>
          </a:prstGeom>
          <a:ln w="15875">
            <a:solidFill>
              <a:srgbClr val="567F8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759952" y="3255264"/>
            <a:ext cx="76809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000" b="0">
                <a:solidFill>
                  <a:srgbClr val="567F8D"/>
                </a:solidFill>
                <a:latin typeface="Roboto"/>
              </a:rPr>
              <a:t>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420623"/>
            <a:ext cx="82296" cy="566928"/>
          </a:xfrm>
          <a:prstGeom prst="rect">
            <a:avLst/>
          </a:prstGeom>
          <a:solidFill>
            <a:srgbClr val="E7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67F8D"/>
                </a:solidFill>
                <a:latin typeface="Roboto Condensed"/>
              </a:rPr>
              <a:t>CLOUDNATIVEPG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3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28495A"/>
                </a:solidFill>
                <a:latin typeface="Roboto Condensed"/>
              </a:rPr>
              <a:t>PER CLUSTER: THREE SETTINGS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7040880" cy="3017520"/>
          </a:xfrm>
          <a:prstGeom prst="roundRect">
            <a:avLst>
              <a:gd name="adj" fmla="val 1497"/>
            </a:avLst>
          </a:prstGeom>
          <a:solidFill>
            <a:srgbClr val="E8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658368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8495A"/>
                </a:solidFill>
                <a:latin typeface="Courier New"/>
              </a:rPr>
              <a:t>spec: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8495A"/>
                </a:solidFill>
                <a:latin typeface="Courier New"/>
              </a:rPr>
              <a:t>  imageCatalogRef: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8495A"/>
                </a:solidFill>
                <a:latin typeface="Courier New"/>
              </a:rPr>
              <a:t>    kind: ClusterImageCatalog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8495A"/>
                </a:solidFill>
                <a:latin typeface="Courier New"/>
              </a:rPr>
              <a:t>    name: o11y-postgres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8495A"/>
                </a:solidFill>
                <a:latin typeface="Courier New"/>
              </a:rPr>
              <a:t>    major: 18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8495A"/>
                </a:solidFill>
                <a:latin typeface="Courier New"/>
              </a:rPr>
              <a:t>  postgresql: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8495A"/>
                </a:solidFill>
                <a:latin typeface="Courier New"/>
              </a:rPr>
              <a:t>    shared_preload_libraries: [pg_tracing, pg_stat_ch]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8495A"/>
                </a:solidFill>
                <a:latin typeface="Courier New"/>
              </a:rPr>
              <a:t>    parameters: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8495A"/>
                </a:solidFill>
                <a:latin typeface="Courier New"/>
              </a:rPr>
              <a:t>      compute_query_id: "on"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8495A"/>
                </a:solidFill>
                <a:latin typeface="Courier New"/>
              </a:rPr>
              <a:t>      pg_tracing.otel_endpoint: http://otel-collector.o11y:4318/v1/traces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8495A"/>
                </a:solidFill>
                <a:latin typeface="Courier New"/>
              </a:rPr>
              <a:t>      pg_stat_ch.otel_endpoint: otel-collector.o11y:4317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36776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8495A"/>
                </a:solidFill>
                <a:latin typeface="Roboto Condense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91640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495A"/>
                </a:solidFill>
                <a:latin typeface="Roboto Condensed"/>
              </a:rPr>
              <a:t>Load both extensions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574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67F8D"/>
                </a:solidFill>
                <a:latin typeface="Roboto"/>
              </a:rPr>
              <a:t>shared_preload_libraries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688336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8495A"/>
                </a:solidFill>
                <a:latin typeface="Roboto Condense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743200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495A"/>
                </a:solidFill>
                <a:latin typeface="Roboto Condensed"/>
              </a:rPr>
              <a:t>Compute query 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1089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67F8D"/>
                </a:solidFill>
                <a:latin typeface="Roboto"/>
              </a:rPr>
              <a:t>The join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739896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8495A"/>
                </a:solidFill>
                <a:latin typeface="Roboto Condense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794760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495A"/>
                </a:solidFill>
                <a:latin typeface="Roboto Condensed"/>
              </a:rPr>
              <a:t>Point at the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1605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67F8D"/>
                </a:solidFill>
                <a:latin typeface="Roboto"/>
              </a:rPr>
              <a:t>OTLP for spans and events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120640"/>
            <a:ext cx="11460175" cy="566928"/>
          </a:xfrm>
          <a:prstGeom prst="roundRect">
            <a:avLst>
              <a:gd name="adj" fmla="val 5424"/>
            </a:avLst>
          </a:prstGeom>
          <a:solidFill>
            <a:srgbClr val="E7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l"/>
            <a:r>
              <a:rPr sz="1400" b="1">
                <a:solidFill>
                  <a:srgbClr val="28495A"/>
                </a:solidFill>
                <a:latin typeface="Roboto Condensed"/>
              </a:rPr>
              <a:t>ONE-TIME COST   </a:t>
            </a:r>
            <a:r>
              <a:rPr sz="1400">
                <a:solidFill>
                  <a:srgbClr val="28495A"/>
                </a:solidFill>
                <a:latin typeface="Roboto"/>
              </a:rPr>
              <a:t>pg_tracing and pg_stat_ch live in one image shared by every cluster.</a:t>
            </a:r>
          </a:p>
        </p:txBody>
      </p:sp>
      <p:pic>
        <p:nvPicPr>
          <p:cNvPr id="17" name="Picture 16" descr="edb_postgres_ai_light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419088"/>
            <a:ext cx="877824" cy="2011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59775" y="6437376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67F8D"/>
                </a:solidFill>
                <a:latin typeface="Roboto"/>
              </a:rPr>
              <a:t>©EDB 2026 —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2834640"/>
            <a:ext cx="82296" cy="658368"/>
          </a:xfrm>
          <a:prstGeom prst="rect">
            <a:avLst/>
          </a:prstGeom>
          <a:solidFill>
            <a:srgbClr val="E7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871216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Roboto Condensed"/>
              </a:rPr>
              <a:t>LIVE DEMO: THE INCIDENT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5844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8C2CA"/>
                </a:solidFill>
                <a:latin typeface="Roboto"/>
              </a:rPr>
              <a:t>Locate  ·  Narrow  ·  Diagnose  ·  Fix  ·  Verify</a:t>
            </a:r>
          </a:p>
        </p:txBody>
      </p:sp>
      <p:pic>
        <p:nvPicPr>
          <p:cNvPr id="6" name="Picture 5" descr="edb_postgres_ai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419088"/>
            <a:ext cx="877824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59775" y="6437376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A8C2CA"/>
                </a:solidFill>
                <a:latin typeface="Roboto"/>
              </a:rPr>
              <a:t>©EDB 2026 —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420623"/>
            <a:ext cx="82296" cy="566928"/>
          </a:xfrm>
          <a:prstGeom prst="rect">
            <a:avLst/>
          </a:prstGeom>
          <a:solidFill>
            <a:srgbClr val="E7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67F8D"/>
                </a:solidFill>
                <a:latin typeface="Roboto Condensed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3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28495A"/>
                </a:solidFill>
                <a:latin typeface="Roboto Condensed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34542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28495A"/>
                </a:solidFill>
                <a:latin typeface="Roboto Condense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560320"/>
            <a:ext cx="345429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28495A"/>
                </a:solidFill>
                <a:latin typeface="Roboto Condensed"/>
              </a:rPr>
              <a:t>Three pillars on one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91840"/>
            <a:ext cx="345429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67F8D"/>
                </a:solidFill>
                <a:latin typeface="Roboto"/>
              </a:rPr>
              <a:t>One schema and one Grafana datasource for all three signals.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94378" y="1737360"/>
            <a:ext cx="0" cy="2926080"/>
          </a:xfrm>
          <a:prstGeom prst="line">
            <a:avLst/>
          </a:prstGeom>
          <a:ln w="12700">
            <a:solidFill>
              <a:srgbClr val="A8C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68698" y="1691640"/>
            <a:ext cx="34542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28495A"/>
                </a:solidFill>
                <a:latin typeface="Roboto Condense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698" y="2560320"/>
            <a:ext cx="345429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28495A"/>
                </a:solidFill>
                <a:latin typeface="Roboto Condensed"/>
              </a:rPr>
              <a:t>PostgreSQL inside 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8" y="3291840"/>
            <a:ext cx="345429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67F8D"/>
                </a:solidFill>
                <a:latin typeface="Roboto"/>
              </a:rPr>
              <a:t>pg_tracing extends the application trace into the plan and execution.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97316" y="1737360"/>
            <a:ext cx="0" cy="2926080"/>
          </a:xfrm>
          <a:prstGeom prst="line">
            <a:avLst/>
          </a:prstGeom>
          <a:ln w="12700">
            <a:solidFill>
              <a:srgbClr val="A8C2C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71636" y="1691640"/>
            <a:ext cx="34542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28495A"/>
                </a:solidFill>
                <a:latin typeface="Roboto Condensed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1636" y="2560320"/>
            <a:ext cx="345429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28495A"/>
                </a:solidFill>
                <a:latin typeface="Roboto Condensed"/>
              </a:rPr>
              <a:t>One join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1636" y="3291840"/>
            <a:ext cx="345429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67F8D"/>
                </a:solidFill>
                <a:latin typeface="Roboto"/>
              </a:rPr>
              <a:t>query_id links spans, events and logs across plan changes.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074920"/>
            <a:ext cx="11460175" cy="566928"/>
          </a:xfrm>
          <a:prstGeom prst="roundRect">
            <a:avLst>
              <a:gd name="adj" fmla="val 5424"/>
            </a:avLst>
          </a:prstGeom>
          <a:solidFill>
            <a:srgbClr val="28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l"/>
            <a:r>
              <a:rPr sz="1500" b="1">
                <a:solidFill>
                  <a:srgbClr val="E7C568"/>
                </a:solidFill>
                <a:latin typeface="Roboto Condensed"/>
              </a:rPr>
              <a:t>THE POINT   </a:t>
            </a:r>
            <a:r>
              <a:rPr sz="1500">
                <a:solidFill>
                  <a:srgbClr val="FFFFFF"/>
                </a:solidFill>
                <a:latin typeface="Roboto"/>
              </a:rPr>
              <a:t>From the page to the root cause in one Grafana view.</a:t>
            </a:r>
          </a:p>
        </p:txBody>
      </p:sp>
      <p:pic>
        <p:nvPicPr>
          <p:cNvPr id="17" name="Picture 16" descr="edb_postgres_ai_light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419088"/>
            <a:ext cx="877824" cy="2011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59775" y="6437376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67F8D"/>
                </a:solidFill>
                <a:latin typeface="Roboto"/>
              </a:rPr>
              <a:t>©EDB 2026 — ALL RIGHTS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420623"/>
            <a:ext cx="82296" cy="566928"/>
          </a:xfrm>
          <a:prstGeom prst="rect">
            <a:avLst/>
          </a:prstGeom>
          <a:solidFill>
            <a:srgbClr val="E7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67F8D"/>
                </a:solidFill>
                <a:latin typeface="Roboto Condensed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3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28495A"/>
                </a:solidFill>
                <a:latin typeface="Roboto Condensed"/>
              </a:rPr>
              <a:t>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28216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8495A"/>
                </a:solidFill>
                <a:latin typeface="Roboto Condense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495A"/>
                </a:solidFill>
                <a:latin typeface="Roboto Condensed"/>
              </a:rPr>
              <a:t>Extension image volumes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488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67F8D"/>
                </a:solidFill>
                <a:latin typeface="Roboto"/>
              </a:rPr>
              <a:t>Replace the custom image. Needs PG 18 and Kubernetes 1.35+.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79775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8495A"/>
                </a:solidFill>
                <a:latin typeface="Roboto Condense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34639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495A"/>
                </a:solidFill>
                <a:latin typeface="Roboto Condensed"/>
              </a:rPr>
              <a:t>Log above a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00399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67F8D"/>
                </a:solidFill>
                <a:latin typeface="Roboto"/>
              </a:rPr>
              <a:t>Not every statement.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31336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8495A"/>
                </a:solidFill>
                <a:latin typeface="Roboto Condensed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86200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495A"/>
                </a:solidFill>
                <a:latin typeface="Roboto Condensed"/>
              </a:rPr>
              <a:t>Replicas and backups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519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67F8D"/>
                </a:solidFill>
                <a:latin typeface="Roboto"/>
              </a:rPr>
              <a:t>CNPG provides both.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82896"/>
            <a:ext cx="868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8495A"/>
                </a:solidFill>
                <a:latin typeface="Roboto Condensed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937759"/>
            <a:ext cx="6400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8495A"/>
                </a:solidFill>
                <a:latin typeface="Roboto Condensed"/>
              </a:rPr>
              <a:t>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303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67F8D"/>
                </a:solidFill>
                <a:latin typeface="Roboto"/>
              </a:rPr>
              <a:t>Set a ClickHouse TTL.</a:t>
            </a:r>
          </a:p>
        </p:txBody>
      </p:sp>
      <p:pic>
        <p:nvPicPr>
          <p:cNvPr id="17" name="Picture 16" descr="edb_postgres_ai_light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419088"/>
            <a:ext cx="877824" cy="2011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59775" y="6437376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67F8D"/>
                </a:solidFill>
                <a:latin typeface="Roboto"/>
              </a:rPr>
              <a:t>©EDB 2026 —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9456" y="841248"/>
            <a:ext cx="82296" cy="658368"/>
          </a:xfrm>
          <a:prstGeom prst="rect">
            <a:avLst/>
          </a:prstGeom>
          <a:solidFill>
            <a:srgbClr val="E7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77824"/>
            <a:ext cx="114601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Roboto Condensed"/>
              </a:rPr>
              <a:t>LET'S KEEP IN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91056"/>
            <a:ext cx="11460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A8C2CA"/>
                </a:solidFill>
                <a:latin typeface="Roboto"/>
              </a:rPr>
              <a:t>Open source (MIT). Scan, clone, break it.</a:t>
            </a:r>
          </a:p>
        </p:txBody>
      </p:sp>
      <p:pic>
        <p:nvPicPr>
          <p:cNvPr id="6" name="Picture 5" descr="edb_postgres_ai_dark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419088"/>
            <a:ext cx="877824" cy="201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59775" y="6437376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A8C2CA"/>
                </a:solidFill>
                <a:latin typeface="Roboto"/>
              </a:rPr>
              <a:t>©EDB 2026 — ALL RIGHTS RESERVED.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94560"/>
            <a:ext cx="1828800" cy="1828800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0"/>
            <a:ext cx="1645920" cy="1645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560320" y="269748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8C2CA"/>
                </a:solidFill>
                <a:latin typeface="Roboto Condensed"/>
              </a:rPr>
              <a:t>DEMO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017520"/>
            <a:ext cx="8686800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Roboto"/>
              </a:rPr>
              <a:t>github.com/gabrosys/postgres-k8s-unified-o11y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251960"/>
            <a:ext cx="1828800" cy="1828800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linked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43400"/>
            <a:ext cx="1645920" cy="1645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60320" y="4754880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8C2CA"/>
                </a:solidFill>
                <a:latin typeface="Roboto Condensed"/>
              </a:rPr>
              <a:t>LINKEDIN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074920"/>
            <a:ext cx="8686800" cy="457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FFFFFF"/>
                </a:solidFill>
                <a:latin typeface="Roboto"/>
              </a:rPr>
              <a:t>linkedin.com/in/gabriele-rossini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420623"/>
            <a:ext cx="82296" cy="566928"/>
          </a:xfrm>
          <a:prstGeom prst="rect">
            <a:avLst/>
          </a:prstGeom>
          <a:solidFill>
            <a:srgbClr val="E7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67F8D"/>
                </a:solidFill>
                <a:latin typeface="Roboto Condensed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3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28495A"/>
                </a:solidFill>
                <a:latin typeface="Roboto Condensed"/>
              </a:rPr>
              <a:t>QUERY_ID JOINS EVERY SIGNAL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11460175" cy="1325880"/>
          </a:xfrm>
          <a:prstGeom prst="roundRect">
            <a:avLst>
              <a:gd name="adj" fmla="val 1497"/>
            </a:avLst>
          </a:prstGeom>
          <a:solidFill>
            <a:srgbClr val="E8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11002975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8495A"/>
                </a:solidFill>
                <a:latin typeface="Courier New"/>
              </a:rPr>
              <a:t>otel_traces.SpanAttributes['query.query_id']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8495A"/>
                </a:solidFill>
                <a:latin typeface="Courier New"/>
              </a:rPr>
              <a:t>otel_logs.LogAttributes['query_id']   -- ServiceName = 'pg_stat_ch'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28495A"/>
                </a:solidFill>
                <a:latin typeface="Courier New"/>
              </a:rPr>
              <a:t>otel_logs.LogAttributes['query_id']   -- ServiceName = 'postgres-server-log'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37560"/>
            <a:ext cx="53643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8495A"/>
                </a:solidFill>
                <a:latin typeface="Roboto Condensed"/>
              </a:rPr>
              <a:t>Derived from the parse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85032"/>
            <a:ext cx="536432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67F8D"/>
                </a:solidFill>
                <a:latin typeface="Roboto"/>
              </a:rPr>
              <a:t>Stable across plan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1607" y="3337560"/>
            <a:ext cx="53643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8495A"/>
                </a:solidFill>
                <a:latin typeface="Roboto Condensed"/>
              </a:rPr>
              <a:t>Needs two settings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3685032"/>
            <a:ext cx="536432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67F8D"/>
                </a:solidFill>
                <a:latin typeface="Roboto"/>
              </a:rPr>
              <a:t>compute_query_id on and statement logging.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754880"/>
            <a:ext cx="53643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8495A"/>
                </a:solidFill>
                <a:latin typeface="Roboto Condensed"/>
              </a:rPr>
              <a:t>Metrics join by time and pod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102352"/>
            <a:ext cx="536432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67F8D"/>
                </a:solidFill>
                <a:latin typeface="Roboto"/>
              </a:rPr>
              <a:t>They describe whole instances.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4754880"/>
            <a:ext cx="536432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8495A"/>
                </a:solidFill>
                <a:latin typeface="Roboto Condensed"/>
              </a:rPr>
              <a:t>Traces and logs join by trace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5102352"/>
            <a:ext cx="5364327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67F8D"/>
                </a:solidFill>
                <a:latin typeface="Roboto"/>
              </a:rPr>
              <a:t>The traceparent is in the logged statement.</a:t>
            </a:r>
          </a:p>
        </p:txBody>
      </p:sp>
      <p:pic>
        <p:nvPicPr>
          <p:cNvPr id="15" name="Picture 14" descr="edb_postgres_ai_light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419088"/>
            <a:ext cx="877824" cy="201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59775" y="6437376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67F8D"/>
                </a:solidFill>
                <a:latin typeface="Roboto"/>
              </a:rPr>
              <a:t>©EDB 2026 — ALL RIGHTS 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456" y="420623"/>
            <a:ext cx="82296" cy="566928"/>
          </a:xfrm>
          <a:prstGeom prst="rect">
            <a:avLst/>
          </a:prstGeom>
          <a:solidFill>
            <a:srgbClr val="E7C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67F8D"/>
                </a:solidFill>
                <a:latin typeface="Roboto Condensed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3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 i="0">
                <a:solidFill>
                  <a:srgbClr val="28495A"/>
                </a:solidFill>
                <a:latin typeface="Roboto Condensed"/>
              </a:rPr>
              <a:t>THE EXTENSION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737360"/>
            <a:ext cx="2556433" cy="1554480"/>
          </a:xfrm>
          <a:prstGeom prst="roundRect">
            <a:avLst>
              <a:gd name="adj" fmla="val 5424"/>
            </a:avLst>
          </a:prstGeom>
          <a:solidFill>
            <a:srgbClr val="E8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8495A"/>
                </a:solidFill>
                <a:latin typeface="Roboto Condensed"/>
              </a:rPr>
              <a:t>CNPG base image</a:t>
            </a:r>
          </a:p>
          <a:p>
            <a:pPr algn="ctr"/>
            <a:r>
              <a:rPr sz="1400">
                <a:solidFill>
                  <a:srgbClr val="567F8D"/>
                </a:solidFill>
                <a:latin typeface="Roboto"/>
              </a:rPr>
              <a:t>postgresql:18-standard-bookworm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58769" y="2514600"/>
            <a:ext cx="338328" cy="0"/>
          </a:xfrm>
          <a:prstGeom prst="line">
            <a:avLst/>
          </a:prstGeom>
          <a:ln w="15875">
            <a:solidFill>
              <a:srgbClr val="567F8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33673" y="1737360"/>
            <a:ext cx="2556433" cy="1554480"/>
          </a:xfrm>
          <a:prstGeom prst="roundRect">
            <a:avLst>
              <a:gd name="adj" fmla="val 5424"/>
            </a:avLst>
          </a:prstGeom>
          <a:solidFill>
            <a:srgbClr val="E8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8495A"/>
                </a:solidFill>
                <a:latin typeface="Roboto Condensed"/>
              </a:rPr>
              <a:t>pg_tracing</a:t>
            </a:r>
          </a:p>
          <a:p>
            <a:pPr algn="ctr"/>
            <a:r>
              <a:rPr sz="1400">
                <a:solidFill>
                  <a:srgbClr val="567F8D"/>
                </a:solidFill>
                <a:latin typeface="Roboto"/>
              </a:rPr>
              <a:t>pinned commit; v0.1.3 predates PG 18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26683" y="2514600"/>
            <a:ext cx="338328" cy="0"/>
          </a:xfrm>
          <a:prstGeom prst="line">
            <a:avLst/>
          </a:prstGeom>
          <a:ln w="15875">
            <a:solidFill>
              <a:srgbClr val="567F8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301587" y="1737360"/>
            <a:ext cx="2556433" cy="1554480"/>
          </a:xfrm>
          <a:prstGeom prst="roundRect">
            <a:avLst>
              <a:gd name="adj" fmla="val 5424"/>
            </a:avLst>
          </a:prstGeom>
          <a:solidFill>
            <a:srgbClr val="E8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28495A"/>
                </a:solidFill>
                <a:latin typeface="Roboto Condensed"/>
              </a:rPr>
              <a:t>pg_stat_ch</a:t>
            </a:r>
          </a:p>
          <a:p>
            <a:pPr algn="ctr"/>
            <a:r>
              <a:rPr sz="1400">
                <a:solidFill>
                  <a:srgbClr val="567F8D"/>
                </a:solidFill>
                <a:latin typeface="Roboto"/>
              </a:rPr>
              <a:t>release v0.4.0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94597" y="2514600"/>
            <a:ext cx="338328" cy="0"/>
          </a:xfrm>
          <a:prstGeom prst="line">
            <a:avLst/>
          </a:prstGeom>
          <a:ln w="15875">
            <a:solidFill>
              <a:srgbClr val="567F8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269501" y="1737360"/>
            <a:ext cx="2556433" cy="1554480"/>
          </a:xfrm>
          <a:prstGeom prst="roundRect">
            <a:avLst>
              <a:gd name="adj" fmla="val 5424"/>
            </a:avLst>
          </a:prstGeom>
          <a:solidFill>
            <a:srgbClr val="2849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Roboto Condensed"/>
              </a:rPr>
              <a:t>o11y-postgres:18</a:t>
            </a:r>
          </a:p>
          <a:p>
            <a:pPr algn="ctr"/>
            <a:r>
              <a:rPr sz="1400">
                <a:solidFill>
                  <a:srgbClr val="A8C2CA"/>
                </a:solidFill>
                <a:latin typeface="Roboto"/>
              </a:rPr>
              <a:t>ClusterImageCatalog entry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94760"/>
            <a:ext cx="11460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8495A"/>
                </a:solidFill>
                <a:latin typeface="Roboto"/>
              </a:rPr>
              <a:t>Upstream -Werror is dropped so pg_tracing builds on PG 18.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61688"/>
            <a:ext cx="11460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8495A"/>
                </a:solidFill>
                <a:latin typeface="Roboto"/>
              </a:rPr>
              <a:t>pg_tracing links libcurl. The final stage installs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28616"/>
            <a:ext cx="11460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8495A"/>
                </a:solidFill>
                <a:latin typeface="Roboto"/>
              </a:rPr>
              <a:t>The image is loaded into KIND and referenced through the catalog.</a:t>
            </a:r>
          </a:p>
        </p:txBody>
      </p:sp>
      <p:pic>
        <p:nvPicPr>
          <p:cNvPr id="15" name="Picture 14" descr="edb_postgres_ai_light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419088"/>
            <a:ext cx="877824" cy="201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59775" y="6437376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67F8D"/>
                </a:solidFill>
                <a:latin typeface="Roboto"/>
              </a:rPr>
              <a:t>©EDB 2026 —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observability for PostgreSQL on Kubernetes</dc:title>
  <dc:subject/>
  <dc:creator>Gabriele Rossini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